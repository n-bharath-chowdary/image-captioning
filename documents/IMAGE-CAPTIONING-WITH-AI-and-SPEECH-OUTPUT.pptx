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57" r:id="rId4"/>
    <p:sldId id="267" r:id="rId5"/>
    <p:sldId id="268" r:id="rId6"/>
    <p:sldId id="258" r:id="rId7"/>
    <p:sldId id="259" r:id="rId8"/>
    <p:sldId id="260" r:id="rId9"/>
    <p:sldId id="269" r:id="rId10"/>
    <p:sldId id="261" r:id="rId11"/>
    <p:sldId id="270" r:id="rId12"/>
    <p:sldId id="271" r:id="rId13"/>
    <p:sldId id="262" r:id="rId14"/>
    <p:sldId id="263" r:id="rId15"/>
    <p:sldId id="264" r:id="rId16"/>
    <p:sldId id="265" r:id="rId17"/>
    <p:sldId id="272" r:id="rId18"/>
  </p:sldIdLst>
  <p:sldSz cx="14630400" cy="8229600"/>
  <p:notesSz cx="8229600" cy="14630400"/>
  <p:embeddedFontLst>
    <p:embeddedFont>
      <p:font typeface="Fira Sans" panose="020B0503050000020004" pitchFamily="34" charset="0"/>
      <p:regular r:id="rId20"/>
      <p:bold r:id="rId21"/>
      <p:italic r:id="rId22"/>
      <p:boldItalic r:id="rId23"/>
    </p:embeddedFont>
    <p:embeddedFont>
      <p:font typeface="Inconsolata Bold" pitchFamily="1" charset="0"/>
      <p:bold r:id="rId24"/>
    </p:embeddedFont>
    <p:embeddedFont>
      <p:font typeface="Segoe UI Emoji" panose="020B0502040204020203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46B2"/>
    <a:srgbClr val="FFFFFF"/>
    <a:srgbClr val="D74165"/>
    <a:srgbClr val="D0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603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653" y="1833902"/>
            <a:ext cx="7556421" cy="94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Introduction: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b="1" dirty="0">
              <a:solidFill>
                <a:srgbClr val="F94CAF"/>
              </a:solidFill>
              <a:latin typeface="Inconsolata Bold" pitchFamily="34" charset="0"/>
              <a:ea typeface="Inconsolata Bold" pitchFamily="34" charset="-122"/>
              <a:cs typeface="Inconsolata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245660" y="2597968"/>
            <a:ext cx="8898340" cy="342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Generating Contextual Descriptions for Images Using Deep Learning.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Image captioning with AI and speech output is a cutting-edge technology that combines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computer vision, natural language processing, and text-to-speech synthesis to generate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Audio descriptions of images.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innovative solution has far-reaching applications in accessibility, content creation,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And user experience.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          By utilizing deep learning models, such as CNNs and or transformers, AI can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Analyze images and generate captions that are then converted to natural-sounding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Audio using advanced speech synthesis algorithms.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AD1E6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AD1E6"/>
              </a:solidFill>
              <a:latin typeface="Fira Sans" pitchFamily="34" charset="0"/>
              <a:ea typeface="Fira Sans" pitchFamily="34" charset="-122"/>
              <a:cs typeface="Fira Sans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84903" y="68348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SHAIKH SUFFI NAAZ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484904" y="718652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U23IA22S0069</a:t>
            </a:r>
            <a:endParaRPr lang="en-US" sz="17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C307A-9B48-6A16-A2A1-7F925244D327}"/>
              </a:ext>
            </a:extLst>
          </p:cNvPr>
          <p:cNvSpPr txBox="1"/>
          <p:nvPr/>
        </p:nvSpPr>
        <p:spPr>
          <a:xfrm>
            <a:off x="412629" y="432639"/>
            <a:ext cx="7315200" cy="146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u="sng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Image Captioning with AI &amp; Speech Output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6BDB7-13E2-CD5D-07BD-D106628B77A0}"/>
              </a:ext>
            </a:extLst>
          </p:cNvPr>
          <p:cNvSpPr txBox="1"/>
          <p:nvPr/>
        </p:nvSpPr>
        <p:spPr>
          <a:xfrm>
            <a:off x="1842448" y="382138"/>
            <a:ext cx="5049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C46B2"/>
                </a:solidFill>
              </a:rPr>
              <a:t>Content: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F169A-9119-EA4E-52B0-412EC2FA8DD6}"/>
              </a:ext>
            </a:extLst>
          </p:cNvPr>
          <p:cNvSpPr txBox="1"/>
          <p:nvPr/>
        </p:nvSpPr>
        <p:spPr>
          <a:xfrm>
            <a:off x="1310186" y="1665027"/>
            <a:ext cx="7151427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Introduction to image captioning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Algorithm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Project objectives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Dataset and preprocessing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Model architecture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System workflow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System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Implementation and tools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Results and accuracy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b="1" dirty="0">
                <a:solidFill>
                  <a:schemeClr val="bg2">
                    <a:lumMod val="90000"/>
                  </a:schemeClr>
                </a:solidFill>
              </a:rPr>
              <a:t>Challenges and future enhancement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68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537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Introduction to Image Captioning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81142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605218"/>
            <a:ext cx="2291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Visual Understanding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449967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understands visual content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381142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605218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Assistive Tech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5095637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Aids visually impaired users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381142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605218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Automation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5095637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Automates content tagging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86297-C9DD-D022-3453-63B74B02148D}"/>
              </a:ext>
            </a:extLst>
          </p:cNvPr>
          <p:cNvSpPr txBox="1"/>
          <p:nvPr/>
        </p:nvSpPr>
        <p:spPr>
          <a:xfrm>
            <a:off x="1132764" y="327546"/>
            <a:ext cx="5104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C46B2"/>
                </a:solidFill>
              </a:rPr>
              <a:t>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24FC7A-FB6D-B690-55FB-70C6CC133974}"/>
              </a:ext>
            </a:extLst>
          </p:cNvPr>
          <p:cNvSpPr txBox="1"/>
          <p:nvPr/>
        </p:nvSpPr>
        <p:spPr>
          <a:xfrm>
            <a:off x="327545" y="1525416"/>
            <a:ext cx="13729647" cy="1748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4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CONVOLUTIONAL NEURAL NETWORKS (CNN)</a:t>
            </a:r>
            <a:endParaRPr lang="en-US" sz="24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Convolutional Neural Network (CNN)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a deep learning architecture specifically designed for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image processing and feature extraction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It is widely used in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image captioning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to extract meaningful features from an image before passing them to a language model for caption generation. CNNs work by applying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convolutional filters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to detect patterns, edges, textures, and objects within an image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7A6C2-E289-22E0-8AC9-4BC8BBB75D8D}"/>
              </a:ext>
            </a:extLst>
          </p:cNvPr>
          <p:cNvSpPr txBox="1"/>
          <p:nvPr/>
        </p:nvSpPr>
        <p:spPr>
          <a:xfrm>
            <a:off x="327546" y="3158739"/>
            <a:ext cx="14057194" cy="206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4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LONG SHORT-TERM MEMORY (LSTM)</a:t>
            </a:r>
            <a:endParaRPr lang="en-US" sz="24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0" marR="0" indent="4572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Long Short-Term Memory (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LSTM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) is a type of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Recurrent Neural Network (RNN)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designed to handle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sequential data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and overcome the limitations of standard RNNs, such as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vanishing gradients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. In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image captioning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, LSTM plays a crucial role in generating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natural language descriptions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from the extracted image features.</a:t>
            </a:r>
            <a:endParaRPr lang="en-US" sz="20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EE147-F4AF-689E-0A96-56A6BB88E938}"/>
              </a:ext>
            </a:extLst>
          </p:cNvPr>
          <p:cNvSpPr txBox="1"/>
          <p:nvPr/>
        </p:nvSpPr>
        <p:spPr>
          <a:xfrm>
            <a:off x="-1" y="5618538"/>
            <a:ext cx="14016251" cy="2334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>
              <a:lnSpc>
                <a:spcPct val="115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The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Attention Mechanism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is a powerful deep learning concept that enhances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image captioning models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by enabling them to focus on specific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regions of an image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while generating descriptions. Instead of treating the entire image as a single feature vector, attention selectively highlights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important visual elements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at each step of the caption generation process. This approach significantly improves </a:t>
            </a:r>
            <a:r>
              <a:rPr lang="en-IN" sz="20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accuracy, relevance, and coherence</a:t>
            </a:r>
            <a:r>
              <a:rPr lang="en-IN" sz="2000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 in generated captions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.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indent="457200" algn="just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0" marR="0" indent="45720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221C2-61AA-2BAD-C390-E127DEF6CFC4}"/>
              </a:ext>
            </a:extLst>
          </p:cNvPr>
          <p:cNvSpPr txBox="1"/>
          <p:nvPr/>
        </p:nvSpPr>
        <p:spPr>
          <a:xfrm>
            <a:off x="327546" y="5249206"/>
            <a:ext cx="4523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ATTENTION MECHANISM 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709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93AA40-849F-C121-037C-C2F0D84F0B69}"/>
              </a:ext>
            </a:extLst>
          </p:cNvPr>
          <p:cNvSpPr txBox="1"/>
          <p:nvPr/>
        </p:nvSpPr>
        <p:spPr>
          <a:xfrm>
            <a:off x="354842" y="327546"/>
            <a:ext cx="13716000" cy="2466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400" b="1" kern="1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WORD EMBEDDINGS - TEXT REPRESENTATIONS</a:t>
            </a:r>
            <a:endParaRPr lang="en-US" sz="2400" kern="1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0" marR="0" indent="457200" algn="just"/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image captioning, the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model not only processes images but also generates text descriptions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To ensure that the model understands the relationships between words, we use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word embeddings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 technique that transforms words into numerical representations that capture their meaning, context, and semantic relationships.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Word </a:t>
            </a:r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Embeddings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are vector representations of words that preserve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semantic relationships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. Instead of treating words as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discrete tokens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, embeddings map them to a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high-dimensional space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, where similar words have similar vector representations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4A761-6556-A21A-3470-B40928104DB7}"/>
              </a:ext>
            </a:extLst>
          </p:cNvPr>
          <p:cNvSpPr txBox="1"/>
          <p:nvPr/>
        </p:nvSpPr>
        <p:spPr>
          <a:xfrm>
            <a:off x="354842" y="2770496"/>
            <a:ext cx="137160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/>
            <a:r>
              <a:rPr lang="en-IN" sz="24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BEAM SEARCH – CAPTION GENERATION OPTIMIZATION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457200" algn="just"/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Beam Search is a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search algorithm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used in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sequence generation tasks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like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 captioning, machine translation, and speech recognition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In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 captioning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it is employed to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generate the most probable caption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considering multiple possible word sequences instead of just choosing the most probable word at each step. This helps in producing 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 meaningful, coherent, and grammatically correct captions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Aft>
                <a:spcPts val="0"/>
              </a:spcAft>
            </a:pP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Variants of Beam Search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Length Normalization: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Adjusts scores to avoid shorter captions being </a:t>
            </a:r>
            <a:r>
              <a:rPr lang="en-IN" sz="2000" dirty="0" err="1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favored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.</a:t>
            </a:r>
            <a:b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</a:b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Diverse Beam Search: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Encourages diversity by penalizing repetitive words.</a:t>
            </a:r>
            <a:b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</a:b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🔹</a:t>
            </a:r>
            <a:r>
              <a:rPr lang="en-IN" sz="20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Stochastic Beam Search:</a:t>
            </a:r>
            <a:r>
              <a:rPr lang="en-IN" sz="200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Mangal" panose="02040503050203030202" pitchFamily="18" charset="0"/>
              </a:rPr>
              <a:t> Introduces randomness to explore more variations</a:t>
            </a:r>
            <a:endParaRPr lang="en-US" sz="2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C505E-760F-D601-18FC-A2C52DFC6F05}"/>
              </a:ext>
            </a:extLst>
          </p:cNvPr>
          <p:cNvSpPr txBox="1"/>
          <p:nvPr/>
        </p:nvSpPr>
        <p:spPr>
          <a:xfrm>
            <a:off x="491320" y="5761802"/>
            <a:ext cx="126378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24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EVOLUTION METRICS – CAPTION QUALITY ASSESSMENT</a:t>
            </a:r>
            <a:endParaRPr lang="en-US" sz="240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457200" algn="just">
              <a:spcBef>
                <a:spcPts val="0"/>
              </a:spcBef>
              <a:spcAft>
                <a:spcPts val="0"/>
              </a:spcAft>
            </a:pPr>
            <a:r>
              <a: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Evaluating the quality of generated image captions is essential to ensure </a:t>
            </a:r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accuracy, fluency, and relevance</a:t>
            </a:r>
            <a:r>
              <a: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Since image captioning is a </a:t>
            </a:r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sequence generation task</a:t>
            </a:r>
            <a:r>
              <a: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traditional classification metrics like </a:t>
            </a:r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 and precision</a:t>
            </a:r>
            <a:r>
              <a: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are insufficient. Instead, we use specialized </a:t>
            </a:r>
            <a:r>
              <a:rPr lang="en-IN" sz="20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natural language processing (NLP) metrics</a:t>
            </a:r>
            <a:r>
              <a:rPr lang="en-IN" sz="20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that compare the generated caption with human-written references.</a:t>
            </a:r>
            <a:endParaRPr lang="en-US" sz="2000" dirty="0">
              <a:solidFill>
                <a:schemeClr val="accent1">
                  <a:lumMod val="20000"/>
                  <a:lumOff val="8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5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Manual Captioning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Time-consuming and subjective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Automatic Solutions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75976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Need for AI-based solutions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Meaningful Captions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75976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Generate relevant descriptions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365260" y="353353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BLIP Model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Utilize for caption generation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9" name="Text 6"/>
          <p:cNvSpPr/>
          <p:nvPr/>
        </p:nvSpPr>
        <p:spPr>
          <a:xfrm>
            <a:off x="10256937" y="353353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Text-to-Speech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Convert captions into speech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1892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</p:sp>
      <p:sp>
        <p:nvSpPr>
          <p:cNvPr id="13" name="Text 10"/>
          <p:cNvSpPr/>
          <p:nvPr/>
        </p:nvSpPr>
        <p:spPr>
          <a:xfrm>
            <a:off x="6365260" y="523172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End-to-End System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6796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Automated image understanding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65202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Dataset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Collection of diverse images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75976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Corresponding text descriptions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Preprocessing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75976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Resizing, normalization, tokenization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0B7F539E-2C5A-9B37-3AD7-5DB29D2A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1" y="1962178"/>
            <a:ext cx="14148263" cy="6018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A3FCF-0103-8695-A775-806A7187DCED}"/>
              </a:ext>
            </a:extLst>
          </p:cNvPr>
          <p:cNvSpPr txBox="1"/>
          <p:nvPr/>
        </p:nvSpPr>
        <p:spPr>
          <a:xfrm>
            <a:off x="698268" y="332509"/>
            <a:ext cx="104075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FC46B2"/>
                </a:solidFill>
              </a:rPr>
              <a:t>Model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0891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0EA4A61-ACA0-4AD4-5A8E-584B5CBB2E85}"/>
              </a:ext>
            </a:extLst>
          </p:cNvPr>
          <p:cNvSpPr txBox="1"/>
          <p:nvPr/>
        </p:nvSpPr>
        <p:spPr>
          <a:xfrm>
            <a:off x="548641" y="299257"/>
            <a:ext cx="4937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C46B2"/>
                </a:solidFill>
              </a:rPr>
              <a:t>Encoder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688CC4-38DD-E3CE-1239-3AD4EA236802}"/>
              </a:ext>
            </a:extLst>
          </p:cNvPr>
          <p:cNvSpPr txBox="1"/>
          <p:nvPr/>
        </p:nvSpPr>
        <p:spPr>
          <a:xfrm>
            <a:off x="199505" y="1646469"/>
            <a:ext cx="1396538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An encoder is a deep learning model component that:</a:t>
            </a:r>
          </a:p>
          <a:p>
            <a:pPr marL="514350" indent="-514350">
              <a:buAutoNum type="arabicPeriod"/>
            </a:pPr>
            <a:r>
              <a:rPr lang="en-US" sz="4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Anlayzes</a:t>
            </a: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images: P</a:t>
            </a:r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rocess input images to extract relevant features.</a:t>
            </a:r>
          </a:p>
          <a:p>
            <a:pPr marL="514350" indent="-514350">
              <a:buAutoNum type="arabicPeriod"/>
            </a:pP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Extracts visual features: I</a:t>
            </a:r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dentifies objects, scenes, and actions within the image.</a:t>
            </a:r>
          </a:p>
          <a:p>
            <a:r>
              <a:rPr lang="en-US" sz="4000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encoder typically uses:</a:t>
            </a:r>
          </a:p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CNN[convolutional neural networks]:</a:t>
            </a:r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effective for image feature extraction.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40AA2-4041-9FE8-8C5F-F50362002E4E}"/>
              </a:ext>
            </a:extLst>
          </p:cNvPr>
          <p:cNvSpPr txBox="1"/>
          <p:nvPr/>
        </p:nvSpPr>
        <p:spPr>
          <a:xfrm>
            <a:off x="482139" y="196278"/>
            <a:ext cx="81298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C46B2"/>
                </a:solidFill>
              </a:rPr>
              <a:t>Decoder</a:t>
            </a:r>
            <a:endParaRPr lang="en-US" sz="2800" b="1" dirty="0">
              <a:solidFill>
                <a:srgbClr val="FC46B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E76C3-7A5D-22FB-FFD9-75AC23F478F0}"/>
              </a:ext>
            </a:extLst>
          </p:cNvPr>
          <p:cNvSpPr txBox="1"/>
          <p:nvPr/>
        </p:nvSpPr>
        <p:spPr>
          <a:xfrm>
            <a:off x="482139" y="1733266"/>
            <a:ext cx="109591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 decoder is a deep learning  model component that:</a:t>
            </a:r>
          </a:p>
          <a:p>
            <a:pPr marL="514350" indent="-514350">
              <a:buAutoNum type="arabicPeriod"/>
            </a:pP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Generates captions: </a:t>
            </a:r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 transformer generates text captions based on image features.</a:t>
            </a:r>
          </a:p>
          <a:p>
            <a:pPr marL="514350" indent="-514350">
              <a:buAutoNum type="arabicPeriod"/>
            </a:pP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Produces coherent text: </a:t>
            </a:r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creates a meaningful and grammatically correct caption.</a:t>
            </a:r>
          </a:p>
        </p:txBody>
      </p:sp>
    </p:spTree>
    <p:extLst>
      <p:ext uri="{BB962C8B-B14F-4D97-AF65-F5344CB8AC3E}">
        <p14:creationId xmlns:p14="http://schemas.microsoft.com/office/powerpoint/2010/main" val="69748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D5AAA457-43F0-F212-13A4-539D4129D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5" b="55933"/>
          <a:stretch>
            <a:fillRect/>
          </a:stretch>
        </p:blipFill>
        <p:spPr bwMode="auto">
          <a:xfrm>
            <a:off x="7585364" y="0"/>
            <a:ext cx="5818909" cy="396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" descr="A diagram of a computer&#10;&#10;AI-generated content may be incorrect.">
            <a:extLst>
              <a:ext uri="{FF2B5EF4-FFF2-40B4-BE49-F238E27FC236}">
                <a16:creationId xmlns:a16="http://schemas.microsoft.com/office/drawing/2014/main" id="{C1D51A72-4361-C04B-72D1-69CD112A8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07" b="12613"/>
          <a:stretch>
            <a:fillRect/>
          </a:stretch>
        </p:blipFill>
        <p:spPr bwMode="auto">
          <a:xfrm>
            <a:off x="7585364" y="3960190"/>
            <a:ext cx="5818909" cy="426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11D208-E58B-EC74-1A94-F68093D38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646" y="-587286"/>
            <a:ext cx="167606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SYSTEM DESIGN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64BFEF-1239-7DF9-DB4E-44E2FF399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7046" y="5018453"/>
            <a:ext cx="181037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C37512-740A-6B1D-6013-B55D09431068}"/>
              </a:ext>
            </a:extLst>
          </p:cNvPr>
          <p:cNvSpPr txBox="1"/>
          <p:nvPr/>
        </p:nvSpPr>
        <p:spPr>
          <a:xfrm>
            <a:off x="852055" y="2914471"/>
            <a:ext cx="64631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FC46B2"/>
                </a:solidFill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1514836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458" y="486966"/>
            <a:ext cx="4411028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System Workflow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8" y="1391126"/>
            <a:ext cx="882134" cy="1058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4149" y="1567458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Load BLIP Model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764149" y="1948934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Pretrained model ready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2449711"/>
            <a:ext cx="882134" cy="1058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4149" y="2626043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Upload Image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764149" y="3007519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User input image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64149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Process Image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Analyze visual content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64149" y="4743212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Generate Caption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764149" y="512468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creates description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64149" y="580179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TTS Conversion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764149" y="6183273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pyttsx3 generates speech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764149" y="6860381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Speech Output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1764149" y="7241858"/>
            <a:ext cx="12248793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Audio is played</a:t>
            </a:r>
            <a:endParaRPr lang="en-US" sz="1350" dirty="0"/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566181AB-B162-C149-3510-DA2BDDE4D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995738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21487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Implementation &amp; Tools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47042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264218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754636"/>
            <a:ext cx="2291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Primary programming language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04" y="247042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3264218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PyTorch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3754636"/>
            <a:ext cx="22920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Deep learning framework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538" y="247042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3264218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Transformers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3754636"/>
            <a:ext cx="2291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Hugging Face library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516088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80190" y="5954673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OpenCV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6280190" y="6445091"/>
            <a:ext cx="2291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Image processing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48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729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Results &amp; Accuracy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021925"/>
            <a:ext cx="75564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3029545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317325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317325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3679865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14624" y="382357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BLEU Score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382357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0.75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4330184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14624" y="447389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CIDEr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447389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1.2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4980503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514624" y="512421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ROUGE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89024" y="512421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0.68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280190" y="589359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 scores indicate good performance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1558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Challenges &amp; Future Enhancements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573304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Training Data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429053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Limited data, biased captions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573304"/>
            <a:ext cx="3664863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800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Multilingual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4290536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Support more languages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07067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824299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Process live video streams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E374E3-0D92-4917-FC19-370344FA6E3F}"/>
              </a:ext>
            </a:extLst>
          </p:cNvPr>
          <p:cNvSpPr txBox="1"/>
          <p:nvPr/>
        </p:nvSpPr>
        <p:spPr>
          <a:xfrm>
            <a:off x="3275463" y="2429301"/>
            <a:ext cx="86663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>
                <a:solidFill>
                  <a:srgbClr val="FC46B2"/>
                </a:solidFill>
                <a:latin typeface="Aptos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580973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885</Words>
  <Application>Microsoft Office PowerPoint</Application>
  <PresentationFormat>Custom</PresentationFormat>
  <Paragraphs>140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Inconsolata Bold</vt:lpstr>
      <vt:lpstr>Fira Sans</vt:lpstr>
      <vt:lpstr>Arial</vt:lpstr>
      <vt:lpstr>Segoe UI Emoji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Shaikh MD Afshan</cp:lastModifiedBy>
  <cp:revision>11</cp:revision>
  <dcterms:created xsi:type="dcterms:W3CDTF">2025-03-27T06:09:03Z</dcterms:created>
  <dcterms:modified xsi:type="dcterms:W3CDTF">2025-05-13T03:57:07Z</dcterms:modified>
</cp:coreProperties>
</file>